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Consolidé (M€)</c:v>
                </c:pt>
              </c:strCache>
            </c:strRef>
          </c:tx>
          <c:spPr>
            <a:solidFill>
              <a:srgbClr val="1A2C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C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C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FY2022/23</c:v>
                  </c:pt>
                  <c:pt idx="1">
                    <c:v>FY2023/24</c:v>
                  </c:pt>
                  <c:pt idx="2">
                    <c:v>FY2024/25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100.8</c:v>
                </c:pt>
                <c:pt idx="1">
                  <c:v>91.4</c:v>
                </c:pt>
                <c:pt idx="2">
                  <c:v>95.2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C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(M€)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C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FY2022/23</c:v>
                  </c:pt>
                  <c:pt idx="1">
                    <c:v>FY2023/24</c:v>
                  </c:pt>
                  <c:pt idx="2">
                    <c:v>FY2024/25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24.6</c:v>
                </c:pt>
                <c:pt idx="1">
                  <c:v>10.7</c:v>
                </c:pt>
                <c:pt idx="2">
                  <c:v>16.3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C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Flux exploit. (M€)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C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2C4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FY2022/23</c:v>
                  </c:pt>
                  <c:pt idx="1">
                    <c:v>FY2023/24</c:v>
                  </c:pt>
                  <c:pt idx="2">
                    <c:v>FY2024/25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16.1</c:v>
                </c:pt>
                <c:pt idx="2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C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(M€)</c:v>
                </c:pt>
              </c:strCache>
            </c:strRef>
          </c:tx>
          <c:spPr>
            <a:solidFill>
              <a:srgbClr val="2D6A4F"/>
            </a:solidFill>
            <a:ln w="38100" cap="flat">
              <a:solidFill>
                <a:srgbClr val="2D6A4F"/>
              </a:solidFill>
              <a:prstDash val="solid,solid,solid,dash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C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 (réel)</c:v>
                  </c:pt>
                  <c:pt idx="3">
                    <c:v>FY2026e</c:v>
                  </c:pt>
                  <c:pt idx="4">
                    <c:v>FY2027e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24.6</c:v>
                </c:pt>
                <c:pt idx="1">
                  <c:v>10.7</c:v>
                </c:pt>
                <c:pt idx="2">
                  <c:v>16.3</c:v>
                </c:pt>
                <c:pt idx="3">
                  <c:v>19</c:v>
                </c:pt>
                <c:pt idx="4">
                  <c:v>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C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583680" y="45720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DUE DILIGENCE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MOULINVEST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Industriel — Éco-construction, Bois Énergie &amp; Imprégnation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22860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971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Euronext Growth Paris (ALMOU)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3101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— Transformation du bois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64845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FY2024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91,4 M€  |  3 pôles d'activité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9867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 Lu — IMT Business School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3251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— USAGE STRICTEMENT PERSONNEL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de l'analyse — MOULINVEST FY2024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07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FY2024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91,4 M€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–9,3% vs FY2023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207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FY2024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10,7 M€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: 11,7%  |  –56% vs FY2023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097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207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Nette Adj.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~9,4 M€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1874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DN/EBITDA : 0,87x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850392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4048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3682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Dégradation significative de la rentabilité en FY2024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587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L'EBITDA recule de 56% en un an sous l'effet conjugué d'un effet prix défavorable sur le Bois Énergie et d'une hausse des coûts énergétiques. La marge opérationnelle est quasi nulle (0,01%).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80944"/>
            <a:ext cx="850392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05409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017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Rebond en FY2025 — Confirmation de la résilience du modèle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2369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 progresse à 95,2 M€ (+4,2%) et l'EBITDA rebondit à 16,3 M€ (+52,8%) grâce à la renégociation des contrats d'électricité et la montée en puissance du nouveau silo.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630168"/>
            <a:ext cx="850392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703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366674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financière saine mais capex élevé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modéré (DN/EBITDA 0,87x en FY2024). Programme d'investissements industriels actif (Epicéa), achevé en mai 2025. La politique capex pèse sur le FCF à court terme.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279392"/>
            <a:ext cx="850392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35254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43159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Positionnement favorable sur des marchés structurellement porteurs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535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Éco-construction, rénovation thermique (RE2020), transition énergétique (granulés bois). Le Groupe est bien positionné pour capter la demande à moyen terme.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de la Société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MOULINVEST — Groupe industriel familial coté sur Euronext Growth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Identité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474720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74520" y="1572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familial, ~50 ans d'existence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9568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Cotation 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9568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Euronext Growth Paris (ALMOU)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3408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74520" y="23408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Dunières, Haute-Loire (43)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7249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Effectifs 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74520" y="27249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collaborateurs (groupe)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7452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août (exercice décalé)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FY2025 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74520" y="34930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95,2 M€ (+4,2% vs FY2024)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877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 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74520" y="38770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81%, Export 19%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2611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Actionnariat 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74520" y="426110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Moulin (majoritaire)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0" y="109728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1097280"/>
            <a:ext cx="347472" cy="1143000"/>
          </a:xfrm>
          <a:prstGeom prst="roundRect">
            <a:avLst>
              <a:gd name="adj" fmla="val 21053"/>
            </a:avLst>
          </a:prstGeom>
          <a:solidFill>
            <a:srgbClr val="2D6A4F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1097280"/>
            <a:ext cx="182880" cy="1143000"/>
          </a:xfrm>
          <a:prstGeom prst="roundRect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Bois Construction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1444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du CA : 52,3%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Sciage, triage et vente de bois de structure. Positionnement sur l'ossature bois et l'éco-construction. Marché porteur via RE2020 et rénovation thermique.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2350008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2350008"/>
            <a:ext cx="347472" cy="1143000"/>
          </a:xfrm>
          <a:prstGeom prst="roundRect">
            <a:avLst>
              <a:gd name="adj" fmla="val 21053"/>
            </a:avLst>
          </a:prstGeom>
          <a:solidFill>
            <a:srgbClr val="1A2C4E"/>
          </a:solidFill>
          <a:ln/>
        </p:spPr>
      </p:sp>
      <p:sp>
        <p:nvSpPr>
          <p:cNvPr id="32" name="Shape 30"/>
          <p:cNvSpPr/>
          <p:nvPr/>
        </p:nvSpPr>
        <p:spPr>
          <a:xfrm>
            <a:off x="4480560" y="2350008"/>
            <a:ext cx="182880" cy="1143000"/>
          </a:xfrm>
          <a:prstGeom prst="roundRect">
            <a:avLst/>
          </a:prstGeom>
          <a:solidFill>
            <a:srgbClr val="1A2C4E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441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Bois Énergie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2697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du CA : 28,5%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8986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et commercialisation de granulés (pellets) et cogénération biomasse. Demande corrélée aux conditions climatiques et prix de l'énergie.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0" y="3602736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89120" y="3602736"/>
            <a:ext cx="347472" cy="1143000"/>
          </a:xfrm>
          <a:prstGeom prst="roundRect">
            <a:avLst>
              <a:gd name="adj" fmla="val 21053"/>
            </a:avLst>
          </a:prstGeom>
          <a:solidFill>
            <a:srgbClr val="D4A017"/>
          </a:solidFill>
          <a:ln/>
        </p:spPr>
      </p:sp>
      <p:sp>
        <p:nvSpPr>
          <p:cNvPr id="38" name="Shape 36"/>
          <p:cNvSpPr/>
          <p:nvPr/>
        </p:nvSpPr>
        <p:spPr>
          <a:xfrm>
            <a:off x="4480560" y="3602736"/>
            <a:ext cx="182880" cy="1143000"/>
          </a:xfrm>
          <a:prstGeom prst="roundRect">
            <a:avLst/>
          </a:prstGeom>
          <a:solidFill>
            <a:srgbClr val="D4A017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694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Imprégnation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3950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du CA : 21,3%*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1513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autoclave du bois pour une durabilité maximale. Fabrication de poteaux bois pour réseaux électriques et télécoms. Marché de niche défensif.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89120" y="48463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Part FY2023/2024 — recomposition en cours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Marché &amp; Positionnement Concurrentiel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Dynamiques sectorielles des 3 pôles d'activité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216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Bois Construction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453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Dynamiques de marché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structurellement porteur : déficit de logements, RE2020 favorisant l'ossature bois, objectifs de rénovation thermique. Croissance attendue de la demande à moyen terme malgré un cycle baissier 2023-2024 sur la construction neuve.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20440" y="1453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MOULINVEST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Scierie Moulin est en phase de montée en puissance capacitaire. Gains de parts de marché confirmés (+13% volumes en FY2024 malgré –10% prix).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26480" y="1453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identifiés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0" y="1645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aux mises en chantier et aux taux d'intérêt. Risque prix matières (résineux).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8503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743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Bois Énergie (Pellets)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734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Dynamiques de marché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volatile : fortement corrélé aux conditions climatiques (hiver doux = demande faible) et aux prix du gaz et de l'électricité. Cycle haussier 2021-2023 suivi d'une forte correction des prix en 2024.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20440" y="2734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MOULINVEST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926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Moulin Bois Énergie à capacité normalisée. Subvention ADEME de 12,6 M€ pour une installation biomasse à Dunières (cogénération).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26480" y="2734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identifiés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26480" y="2926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driver de la volatilité du CA et de l'EBITDA du groupe. Risque pricing élevé.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703320"/>
            <a:ext cx="8503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40233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Imprégnation du Bois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0142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Dynamiques de marché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4400" y="4206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de niche défensif : poteaux pour réseaux électriques (Enedis) et télécoms. Marché moins cyclique mais soumis à la concurrence acier/béton et aux politiques de déploiement des réseaux.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20440" y="40142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MOULINVEST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20440" y="4206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Bois Imprégnés positionné sur un marché captif avec des contrats récurrents. Marché en repli en FY2024 (–13,6%) après des années de forte demande.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26480" y="40142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identifiés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26480" y="4206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Recul structurel possible si substitution par d'autres matériaux. Risque concentration clients.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Performances Historiques — Chiffre d'Affaires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sur 3 exercices | FY2022/23 → FY2024/25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Décomposition du CA par Pôle (FY2023/24)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17320"/>
          <a:ext cx="329184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868680"/>
                <a:gridCol w="868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(M€)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Bois Construction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Bois Énergie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Imprégnation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3429000"/>
            <a:ext cx="3291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650992" y="34564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961888" y="345643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FY2023/24 : CA en recul de –9,3% à 91,4 M€ sous l'effet d'une baisse des prix de vente (-10% environ) malgré une bonne tenue des volumes (+13% en Bois Construction).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577840" y="3931920"/>
            <a:ext cx="3291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650992" y="39593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961888" y="395935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FY2024/25 : rebond à 95,2 M€ (+4,2%) porté par la montée en puissance du Bois Construction (+14,6%) et la hausse des prix de vente.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577840" y="4434840"/>
            <a:ext cx="3291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650992" y="44622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961888" y="446227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 Énergie : principal driver de volatilité. Corrélation aux hivers doux / rigoureux et aux prix spot du gaz visible sur les 3 exercices.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Rapports annuels consolidés MOULINVEST — FY2023, FY2024, FY2025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 la Rentabilité — EBITDA &amp; Marges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 résultats sur 3 exercices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 P&amp;L Synthétique (M€)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17320"/>
          <a:ext cx="3291840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640080"/>
                <a:gridCol w="640080"/>
                <a:gridCol w="59436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Agrégat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(Rex)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EBIT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analytique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440740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FY2024 : chute de l'EBITDA de 56% principalement due à la hausse des coûts énergétiques (+27% en N-1) et à l'effet prix défavorable sur le Bois Énergie. L'EBIT est quasi nul (9 k€).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4745736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FY2025 : rebond partiel de l'EBITDA à 16,3 M€ grâce à la renégociation des contrats d'électricité (coûts –14%) et à la progression des volumes. La marge EBITDA reste inférieure au niveau normatif de FY2023.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Retraitements — EBITDA Normalisé (FY2024)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éléments non récurrents sur l'exercice clos 31/08/2024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53742"/>
            <a:ext cx="1280160" cy="215249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082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4233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+10.7 M€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7400" y="2053742"/>
            <a:ext cx="1280160" cy="120701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55082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Rés. exceptionnel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(–0,6 M€)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57400" y="2201875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-0.6 M€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2053742"/>
            <a:ext cx="1280160" cy="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55082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récurrentes*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208117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M€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4920" y="1751990"/>
            <a:ext cx="1280160" cy="3017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24907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énergie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récurrents**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74920" y="208117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 M€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872691"/>
            <a:ext cx="1280160" cy="2333549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369771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normalisé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0" y="4233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+11.6 M€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18288"/>
          </a:xfrm>
          <a:prstGeom prst="rect">
            <a:avLst/>
          </a:prstGeom>
          <a:solidFill>
            <a:srgbClr val="8A9BB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EBITDA normalisé retenu : ~11,6 M€  |  Marge normalisée : ~12,7%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1600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Résultat exceptionnel positif de 0,6 M€ : principalement lié à des cessions d'actifs immobilisés. Élément non récurrent → retrait de l'EBITDA normalisé.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1892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Surcoût énergétique estimé en FY2024 (contrats non renégociés). La renégociation intervenue en jan. 2025 a réduit les charges d'environ 14% en FY2025, suggérant un surcoût ponctuel de l'ordre de 1,5 M€ sur FY2024. Retraitement prudent.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21854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En l'absence d'accès au data room, ces retraitements sont construits depuis les éléments publics (rapports annuels, communiqués de presse). En due diligence réelle, ils seraient affinés avec les CFO schedules.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BFR &amp; BFR Normatif (FY2024)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en Fonds de Roulement — estimation sur données publiques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 des Ratios de Rotation (FY2024)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097280"/>
                <a:gridCol w="59436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Créances clients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~15,2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TTC ~109,7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~51 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~14,8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Achats conso ~45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 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Dettes fourn.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~8,5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Achats TTC ~54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 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06324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1A2C4E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BFR Normatif — Synthèse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clients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154680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j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3803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Jours stocks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54680" y="3803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j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Jours fournisseurs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15468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(57 j)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4425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Jours BFR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54680" y="4425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j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4736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BFR Normatif (× CA / 365)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15468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~28,5 M€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5047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BFR Comptable (bilan)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154680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~21,5 M€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d'Attention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417320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46320" y="14630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74920" y="14630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Stocks élevés : 120 jours de rotation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171907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du bois par nature intensive en stocks (bois sur pied, séchage, produits finis). Un niveau de 120 j reste dans la norme sectorielle mais constitue un point de surveillance.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754880" y="2313432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846320" y="23591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74920" y="23591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BFR normatif &gt; BFR comptable : signal de vigilance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846320" y="261518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 (~7 M€) suggère que le BFR comptable en clôture est inférieur au niveau normatif. En due diligence réelle, cela justifierait un ajustement de prix à l'achat.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754880" y="3209544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846320" y="32552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074920" y="32552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Délais clients maîtrisés (~51 j)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46320" y="351129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cohérent avec une clientèle PME négoce et grande distribution. Pas de signal de retard anormal au regard du secteur.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754880" y="4105656"/>
            <a:ext cx="4069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846320" y="415137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074920" y="41513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méthodologiques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846320" y="44074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l'absence de comptes consolidés détaillés accessibles, les postes bilantaires sont estimés depuis les flux de trésorerie publiés. Retraitements à affiner en data room.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Dette Nette Ajustée &amp; Éléments Debt-Like (FY2024)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financière au 31/08/2024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de la Dette Nette Ajustée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457200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Dettes financières brutes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Emprunts bancaires + CBC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(–) Trésorerie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(30,9)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disponible au bilan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Dette Nette Comptable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Engagements de retraite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+1,5*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IAS 19 — estimé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Dettes locatives IFRS 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+0,8*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CBC inclus dans dettes fin.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Passifs environnementaux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chiffré publiquement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Dette Nette Ajustée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434840"/>
            <a:ext cx="1444752" cy="594360"/>
          </a:xfrm>
          <a:prstGeom prst="roundRect">
            <a:avLst>
              <a:gd name="adj" fmla="val 12308"/>
            </a:avLst>
          </a:prstGeom>
          <a:solidFill>
            <a:srgbClr val="E8EDF2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4544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Comptable / EBITDA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475488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0,87x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02920" y="5212080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modéré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38528" y="4434840"/>
            <a:ext cx="1444752" cy="594360"/>
          </a:xfrm>
          <a:prstGeom prst="roundRect">
            <a:avLst>
              <a:gd name="adj" fmla="val 12308"/>
            </a:avLst>
          </a:prstGeom>
          <a:solidFill>
            <a:srgbClr val="E8EDF2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075688" y="4544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Ajustée / EBITDA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075688" y="475488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~1,1x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075688" y="5212080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Confortable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511296" y="4434840"/>
            <a:ext cx="1444752" cy="594360"/>
          </a:xfrm>
          <a:prstGeom prst="roundRect">
            <a:avLst>
              <a:gd name="adj" fmla="val 12308"/>
            </a:avLst>
          </a:prstGeom>
          <a:solidFill>
            <a:srgbClr val="E8EDF2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48456" y="4544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/ Capitaux Propres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48456" y="475488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648456" y="5212080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saine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663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Points de Vigilance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166360" y="1417320"/>
            <a:ext cx="365760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257800" y="14630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0" y="14630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Levier confortable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257800" y="1700784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ratio DN/EBITDA de 0,87x sur la base de l'EBITDA FY2024 dégradé (et ~0,58x en FY2023), la structure financière reste saine. Le désendettement est continu (–5,3 M€ de dettes en un an).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166360" y="2304288"/>
            <a:ext cx="365760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257800" y="23500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0" y="23500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Engagements de retraite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257800" y="258775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compte plusieurs filiales industrielles avec des effectifs stables. Les engagements de retraite (IAS 19) constituent un élément debt-like à quantifier précisément en due diligence. Estimé à ~1,5 M€ ici de façon prudente.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166360" y="3191256"/>
            <a:ext cx="365760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257800" y="323697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0" y="323697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capex Epicéa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257800" y="347472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de financement spécifique Epicéa, achevé en mai 2025, a financé les investissements industriels de FY2023-2025. Les CBC (crédit-bail construction) sont intégrés dans les dettes financières publiées.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166360" y="4078224"/>
            <a:ext cx="365760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257800" y="41239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86400" y="412394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Trésorerie : vigilance sur la composante disponible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257800" y="436168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trésorerie de 30,9 M€ inclut potentiellement des montants mobilisés pour des engagements opérationnels (cautions, acomptes). En DRM, vérifier la trésorerie réellement libre.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Estimations prudentes sur données publiques. À confirmer via data room.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Flux de Trésorerie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generation — FY2023 → FY2025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des Flux (M€)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17320"/>
          <a:ext cx="3291840" cy="2286000"/>
        </p:xfrm>
        <a:graphic>
          <a:graphicData uri="http://schemas.openxmlformats.org/drawingml/2006/table">
            <a:tbl>
              <a:tblPr/>
              <a:tblGrid>
                <a:gridCol w="1417320"/>
                <a:gridCol w="640080"/>
                <a:gridCol w="640080"/>
                <a:gridCol w="59436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exploitation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investissement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(n.d.)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 BFR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(estim.)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~(8)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~(8)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 estimé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931920"/>
            <a:ext cx="8412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5720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395935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FCF se contracte sur 3 exercices sous l'effet conjugué de la baisse de l'EBITDA (FY24) et d'investissements industriels soutenus (programme Epicéa).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5760" y="4315968"/>
            <a:ext cx="8412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9808" y="434340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Achèvement du programme Epicéa en mai 2025 : la pression capex devrait se normaliser en FY2026, libérant du FCF.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4700016"/>
            <a:ext cx="8412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57200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49808" y="472744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variation de BFR en FY2025 (–1,5 M€) reflète la hausse des stocks liée à la montée en puissance des capacités de sciage — cohérent avec la stratégie.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d'Attention &amp; Red Flags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identifiés dans le cadre de l'analyse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960120" cy="694944"/>
          </a:xfrm>
          <a:prstGeom prst="roundRect">
            <a:avLst>
              <a:gd name="adj" fmla="val 9211"/>
            </a:avLst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097280"/>
            <a:ext cx="210312" cy="6949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28016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143000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Volatilité extrême de la rentabilité — dépendance au Bois Énergie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380744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L'EBITDA a chuté de 56% en un an uniquement sous l'effet de la normalisation des prix du pellet et de la hausse de l'énergie. Le Bois Énergie représente ~28% du CA mais est le principal driver de la profitabilité groupe. C'est un risque de concentration sectorielle majeur pour un acquéreur.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85039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56232"/>
            <a:ext cx="960120" cy="694944"/>
          </a:xfrm>
          <a:prstGeom prst="roundRect">
            <a:avLst>
              <a:gd name="adj" fmla="val 9211"/>
            </a:avLst>
          </a:prstGeom>
          <a:solidFill>
            <a:srgbClr val="C0392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1856232"/>
            <a:ext cx="210312" cy="6949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203911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1901952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 aux conditions climatiques — aléa non maîtrisable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139696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de granulés bois est fortement corrélée à la rigueur des hivers. Un hiver doux entraîne mécaniquement une chute des volumes et des prix. Cet aléa climatique est non-maîtrisable et doit être intégré dans la normalisation de l'EBITDA.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615184"/>
            <a:ext cx="85039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15184"/>
            <a:ext cx="960120" cy="694944"/>
          </a:xfrm>
          <a:prstGeom prst="roundRect">
            <a:avLst>
              <a:gd name="adj" fmla="val 9211"/>
            </a:avLst>
          </a:prstGeom>
          <a:solidFill>
            <a:srgbClr val="D4A017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2615184"/>
            <a:ext cx="210312" cy="6949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" y="27980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" y="2660904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capex intensif — pression sur le FCF à court terme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2898648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Epicéa a pesé sur la génération de cash sur 3 exercices. Bien qu'achevé en mai 2025, les bénéfices opérationnels (augmentation des capacités) devront être vérifiés. Le ratio capex/CA a été supérieur à la normale du secteur.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374136"/>
            <a:ext cx="85039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374136"/>
            <a:ext cx="960120" cy="694944"/>
          </a:xfrm>
          <a:prstGeom prst="roundRect">
            <a:avLst>
              <a:gd name="adj" fmla="val 9211"/>
            </a:avLst>
          </a:prstGeom>
          <a:solidFill>
            <a:srgbClr val="D4A017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3374136"/>
            <a:ext cx="210312" cy="69494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" y="355701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" y="3419856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familiale — risque de rémunération non-market du dirigeant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familiale : la rémunération du dirigeant et des membres de la famille doit être analysée en due diligence pour identifier tout retraitement d'EBITDA normatif. Risque classique en PME familiale cotée.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133088"/>
            <a:ext cx="850392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133088"/>
            <a:ext cx="960120" cy="694944"/>
          </a:xfrm>
          <a:prstGeom prst="roundRect">
            <a:avLst>
              <a:gd name="adj" fmla="val 9211"/>
            </a:avLst>
          </a:prstGeom>
          <a:solidFill>
            <a:srgbClr val="2D6A4F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" y="4133088"/>
            <a:ext cx="210312" cy="69494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" y="43159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1560" y="4178808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 Imprégnation en repli — risque de substitution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4416552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pôle Imprégnation recule sur FY2024 (–13,6%). Si la substitution matériaux (béton/acier pour les poteaux) s'accélère, ce pôle pourrait peser sur la croissance à moyen terme.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Business Plan &amp; Perspectives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critique des orientations stratégiques du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 Effet Hockey Stick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47548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FY2026e / FY2027e : projections indicatives fondées sur le rebond amorcé en FY2025 et les capacités nouvelles. Non publiées — estimation analyste.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4924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Clés au Management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49240" y="1417320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67528" y="143560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A2C4E"/>
          </a:solidFill>
          <a:ln/>
        </p:spPr>
      </p:sp>
      <p:sp>
        <p:nvSpPr>
          <p:cNvPr id="11" name="Text 8"/>
          <p:cNvSpPr/>
          <p:nvPr/>
        </p:nvSpPr>
        <p:spPr>
          <a:xfrm>
            <a:off x="5367528" y="1435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33288" y="143560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prix de revient normatif de la tonne de pellet avec les nouveaux contrats énergie 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33288" y="1709928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Valide la soutenabilité de la marge sur Bois Énergie.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349240" y="2121408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67528" y="2139696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A2C4E"/>
          </a:solidFill>
          <a:ln/>
        </p:spPr>
      </p:sp>
      <p:sp>
        <p:nvSpPr>
          <p:cNvPr id="16" name="Text 13"/>
          <p:cNvSpPr/>
          <p:nvPr/>
        </p:nvSpPr>
        <p:spPr>
          <a:xfrm>
            <a:off x="5367528" y="2139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33288" y="2139696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capacité de production effective du nouveau silo de réception des bois ?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33288" y="2414016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Quantifie l'upside volumique sur Bois Construction.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349240" y="2825496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67528" y="2843784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A2C4E"/>
          </a:solidFill>
          <a:ln/>
        </p:spPr>
      </p:sp>
      <p:sp>
        <p:nvSpPr>
          <p:cNvPr id="21" name="Text 18"/>
          <p:cNvSpPr/>
          <p:nvPr/>
        </p:nvSpPr>
        <p:spPr>
          <a:xfrm>
            <a:off x="5367528" y="2843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33288" y="2843784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Existe-t-il des contrats long terme (&gt; 1 an) sur le pellet ou l'imprégnation ?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33288" y="3118104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Réduit le risque de volatilité des revenus.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349240" y="3529584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67528" y="35478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A2C4E"/>
          </a:solidFill>
          <a:ln/>
        </p:spPr>
      </p:sp>
      <p:sp>
        <p:nvSpPr>
          <p:cNvPr id="26" name="Text 23"/>
          <p:cNvSpPr/>
          <p:nvPr/>
        </p:nvSpPr>
        <p:spPr>
          <a:xfrm>
            <a:off x="5367528" y="3547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33288" y="354787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rémunération totale des membres de la famille dirigeante ?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733288" y="382219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Retraitement EBITDA normatif en PME familiale.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349240" y="4233672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367528" y="42519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A2C4E"/>
          </a:solidFill>
          <a:ln/>
        </p:spPr>
      </p:sp>
      <p:sp>
        <p:nvSpPr>
          <p:cNvPr id="31" name="Text 28"/>
          <p:cNvSpPr/>
          <p:nvPr/>
        </p:nvSpPr>
        <p:spPr>
          <a:xfrm>
            <a:off x="5367528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733288" y="42519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des engagements de capex additionnels post-Epicéa ?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733288" y="452628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Impact sur le FCF et la capacité de désendettement.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Éléments de Valorisation Indicatifs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par les multiples EV/EBITDA — à titre illustratif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Fourchette de Valorisation EV/EBITDA (M€)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169164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914400"/>
                <a:gridCol w="914400"/>
                <a:gridCol w="1097280"/>
                <a:gridCol w="146304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retenu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(x)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 (M€)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(–) DN Ajustée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 normalisé : 11,6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(11,7)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Moy. FY24n-FY25 : ~14,0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(11,7)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: 16,3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(11,7)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004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1A2C4E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Boursier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Capitalisation boursière 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880360" y="36393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~25–30 M€ (estim.)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3941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implicite (marché) 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80360" y="3941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~35–42 M€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implicite VE/EBITDA25 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880360" y="42428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~2,1x–2,6x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4544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de contrôle potentielle 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880360" y="4544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sur le cours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17720" y="3200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Méthodologiques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17720" y="35204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sectoriel de 5x-7x cohérent avec le secteur transformation du bois en France (PME, non coté). Source : transactions comparables secteur forêt/bois en Europe 2022-2025.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617720" y="386791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L'EBITDA du base case retient une moyenne FY2024 normalisé / FY2025, soit ~14 M€, reflétant le cycle de normalisation en cours.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617720" y="421538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valorisation implicite du marché boursier (~2x-3x EBITDA) reflète la prime de liquidité réduite d'Euronext Growth et la décote PME familiale.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617720" y="456285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AVERTISSEMENT : cette analyse est purement indicative et éducative. Elle ne constitue pas un conseil en investissement.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 EV / Equity &amp; Ajustements de Prix Potentiels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Mécanismes d'ajustement identifiés en due diligence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to Equity Bridge — Base Case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484632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d'Entreprise (Base Case)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C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 = EBITDA norm. x 6x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(–) Dette nette comptable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Dettes 40,3 – Tréso 30,9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(–) Engagements retraite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Debt-like 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(–) Dettes locatives IFRS 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Debt-like 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(–) Ajustement BFR normatif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(7,0)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BFR normatif – BFR comptable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Equity Value estimée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~65,3 M€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0416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Sensibilité scénarios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4325112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3525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5811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VE: 58,0 M€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65760" y="4764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Eq: 38,3 M€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11680" y="4325112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1A2C4E"/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43525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11680" y="45811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VE: 84,0 M€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011680" y="4764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Eq: 65,3 M€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0" y="4325112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0" y="43525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0" y="45811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VE: 114,1 M€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657600" y="47640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Eq: 95,4 M€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394960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Mécanismes d'Ajustement de Prix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94960" y="1417320"/>
            <a:ext cx="34290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532120" y="14813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Ajustement BFR (–7,0 M€)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32120" y="176479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BFR normatif (~28,5 M€) &gt; BFR comptable (~21,5 M€). L'acheteur finance la différence post-closing. Mécanisme : locked box ou completion accounts avec BFR cible contractualisé.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394960" y="2651760"/>
            <a:ext cx="34290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532120" y="2715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Earnout sur Bois Énergie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532120" y="299923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tenu de la volatilité du pôle pellets, un earnout conditionné au niveau de marge EBITDA sur 2 exercices post-closing est pertinent pour partager le risque prix.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394960" y="3886200"/>
            <a:ext cx="34290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532120" y="39502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Garantie sur engagements retraite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532120" y="423367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engagements IAS 19 feront l'objet d'une clause de garantie spécifique couvrant tout écart vs montants estimés en due diligence.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&amp; Recommandations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22860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industriel solide, positionné sur des marchés structurellement porteurs (éco-construction, transition énergétique).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financière saine : levier DN/EBITDA &lt; 1x, trésorerie robuste, programme capex quasi achevé.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6090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Rebond confirmé en FY2025 (+52,8% EBITDA) : le point bas de FY2024 apparaît conjoncturel, non structurel.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1912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369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principal : concentration sur le Bois Énergie (volatile, climatique). EBITDA normatif probablement entre 14 et 18 M€ en cycle normalisé.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767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8130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BFR à contractualiser (~7 M€) et mécanismes de protection sur les engagements de retraite.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7220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Ouvertes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8229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détail des charges d'énergie par filiale (data room)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4356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commerciaux long terme sur les 3 pôles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04825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engagements hors bilan et cautions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66090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Rémunération totale dirigeant &amp; famille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32735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du management FY2026-2028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388620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Valorisation des actifs immobiliers détenus en propre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Frédéric Lu — IMT Business School  |  Analyste Transaction Services  |  Juin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MOULINVEST — Financial Due Diligence Review</dc:title>
  <dc:subject>PptxGenJS Presentation</dc:subject>
  <dc:creator>PptxGenJS</dc:creator>
  <cp:lastModifiedBy>PptxGenJS</cp:lastModifiedBy>
  <cp:revision>1</cp:revision>
  <dcterms:created xsi:type="dcterms:W3CDTF">2026-06-25T12:34:03Z</dcterms:created>
  <dcterms:modified xsi:type="dcterms:W3CDTF">2026-06-25T12:34:03Z</dcterms:modified>
</cp:coreProperties>
</file>